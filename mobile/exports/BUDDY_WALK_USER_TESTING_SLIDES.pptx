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5F5F5"/>
                </a:solidFill>
                <a:latin typeface="Segoe UI"/>
              </a:rPr>
              <a:t>Buddy Walk</a:t>
            </a:r>
          </a:p>
          <a:p>
            <a:pPr>
              <a:spcBef>
                <a:spcPts val="1400"/>
              </a:spcBef>
            </a:pPr>
            <a:r>
              <a:rPr sz="2600">
                <a:solidFill>
                  <a:srgbClr val="4DD0E1"/>
                </a:solidFill>
                <a:latin typeface="Segoe UI"/>
              </a:rPr>
              <a:t>User Testing Guide</a:t>
            </a:r>
          </a:p>
          <a:p>
            <a:pPr>
              <a:spcBef>
                <a:spcPts val="2400"/>
              </a:spcBef>
            </a:pPr>
            <a:r>
              <a:rPr sz="1600">
                <a:solidFill>
                  <a:srgbClr val="B0B8C0"/>
                </a:solidFill>
                <a:latin typeface="Segoe UI"/>
              </a:rPr>
              <a:t>Accessibility-first navigation for blind &amp; low-vision travelers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Segoe UI"/>
              </a:rPr>
              <a:t>What We're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926080" cy="4572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Buddy Walk combines </a:t>
            </a:r>
            <a:r>
              <a:rPr sz="1900" b="1">
                <a:solidFill>
                  <a:srgbClr val="F5F5F5"/>
                </a:solidFill>
                <a:latin typeface="Segoe UI"/>
              </a:rPr>
              <a:t>camera + voice Q&amp;A</a:t>
            </a:r>
            <a:r>
              <a:rPr sz="1900" b="0">
                <a:solidFill>
                  <a:srgbClr val="F5F5F5"/>
                </a:solidFill>
                <a:latin typeface="Segoe UI"/>
              </a:rPr>
              <a:t>, </a:t>
            </a:r>
            <a:r>
              <a:rPr sz="1900" b="1">
                <a:solidFill>
                  <a:srgbClr val="F5F5F5"/>
                </a:solidFill>
                <a:latin typeface="Segoe UI"/>
              </a:rPr>
              <a:t>spoken answers</a:t>
            </a:r>
            <a:r>
              <a:rPr sz="1900" b="0">
                <a:solidFill>
                  <a:srgbClr val="F5F5F5"/>
                </a:solidFill>
                <a:latin typeface="Segoe UI"/>
              </a:rPr>
              <a:t>, and </a:t>
            </a:r>
            <a:r>
              <a:rPr sz="1900" b="1">
                <a:solidFill>
                  <a:srgbClr val="F5F5F5"/>
                </a:solidFill>
                <a:latin typeface="Segoe UI"/>
              </a:rPr>
              <a:t>hands-off turn-by-turn guidance</a:t>
            </a:r>
            <a:r>
              <a:rPr sz="1900" b="0">
                <a:solidFill>
                  <a:srgbClr val="F5F5F5"/>
                </a:solidFill>
                <a:latin typeface="Segoe UI"/>
              </a:rPr>
              <a:t> (haptics on native iOS).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This round focuses on </a:t>
            </a:r>
            <a:r>
              <a:rPr sz="1900" b="1">
                <a:solidFill>
                  <a:srgbClr val="F5F5F5"/>
                </a:solidFill>
                <a:latin typeface="Segoe UI"/>
              </a:rPr>
              <a:t>real-world usability</a:t>
            </a:r>
            <a:r>
              <a:rPr sz="1900" b="0">
                <a:solidFill>
                  <a:srgbClr val="F5F5F5"/>
                </a:solidFill>
                <a:latin typeface="Segoe UI"/>
              </a:rPr>
              <a:t> — especially by ear and touch, with VoiceOver where possible.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66BB6A"/>
                </a:solidFill>
                <a:latin typeface="Segoe UI"/>
              </a:rPr>
              <a:t>•  Run </a:t>
            </a:r>
            <a:r>
              <a:rPr sz="1900" b="1">
                <a:solidFill>
                  <a:srgbClr val="66BB6A"/>
                </a:solidFill>
                <a:latin typeface="Segoe UI"/>
              </a:rPr>
              <a:t>each test category 5 times</a:t>
            </a:r>
            <a:r>
              <a:rPr sz="1900" b="0">
                <a:solidFill>
                  <a:srgbClr val="66BB6A"/>
                </a:solidFill>
                <a:latin typeface="Segoe UI"/>
              </a:rPr>
              <a:t> — different storefronts, destinations, or lines each run.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Auth is </a:t>
            </a:r>
            <a:r>
              <a:rPr sz="1900" b="1">
                <a:solidFill>
                  <a:srgbClr val="F5F5F5"/>
                </a:solidFill>
                <a:latin typeface="Segoe UI"/>
              </a:rPr>
              <a:t>bypassed</a:t>
            </a:r>
            <a:r>
              <a:rPr sz="1900" b="0">
                <a:solidFill>
                  <a:srgbClr val="F5F5F5"/>
                </a:solidFill>
                <a:latin typeface="Segoe UI"/>
              </a:rPr>
              <a:t> for this beta: after permissions, you land on the main screen. No sign-in required.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Segoe UI"/>
              </a:rPr>
              <a:t>How to Access the Beta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926080" cy="4572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0">
                <a:solidFill>
                  <a:srgbClr val="66BB6A"/>
                </a:solidFill>
                <a:latin typeface="Segoe UI"/>
              </a:rPr>
              <a:t>•  </a:t>
            </a:r>
            <a:r>
              <a:rPr sz="1900" b="1">
                <a:solidFill>
                  <a:srgbClr val="66BB6A"/>
                </a:solidFill>
                <a:latin typeface="Segoe UI"/>
              </a:rPr>
              <a:t>Web beta (available now)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https://buddy-walk-mobile.vercel.app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Open in </a:t>
            </a:r>
            <a:r>
              <a:rPr sz="1600" b="1">
                <a:solidFill>
                  <a:srgbClr val="F5F5F5"/>
                </a:solidFill>
                <a:latin typeface="Segoe UI"/>
              </a:rPr>
              <a:t>Safari (iPhone)</a:t>
            </a:r>
            <a:r>
              <a:rPr sz="1600" b="0">
                <a:solidFill>
                  <a:srgbClr val="F5F5F5"/>
                </a:solidFill>
                <a:latin typeface="Segoe UI"/>
              </a:rPr>
              <a:t> or </a:t>
            </a:r>
            <a:r>
              <a:rPr sz="1600" b="1">
                <a:solidFill>
                  <a:srgbClr val="F5F5F5"/>
                </a:solidFill>
                <a:latin typeface="Segoe UI"/>
              </a:rPr>
              <a:t>Chrome</a:t>
            </a:r>
            <a:r>
              <a:rPr sz="1600" b="0">
                <a:solidFill>
                  <a:srgbClr val="F5F5F5"/>
                </a:solidFill>
                <a:latin typeface="Segoe UI"/>
              </a:rPr>
              <a:t> — allow camera, mic, and location when prompted.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</a:t>
            </a:r>
            <a:r>
              <a:rPr sz="1900" b="1">
                <a:solidFill>
                  <a:srgbClr val="F5F5F5"/>
                </a:solidFill>
                <a:latin typeface="Segoe UI"/>
              </a:rPr>
              <a:t>iOS app (TestFlight)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Install via TestFlight when your build is approved in App Store Connect.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Native app = full </a:t>
            </a:r>
            <a:r>
              <a:rPr sz="1600" b="1">
                <a:solidFill>
                  <a:srgbClr val="F5F5F5"/>
                </a:solidFill>
                <a:latin typeface="Segoe UI"/>
              </a:rPr>
              <a:t>haptic navigation</a:t>
            </a:r>
            <a:r>
              <a:rPr sz="1600" b="0">
                <a:solidFill>
                  <a:srgbClr val="F5F5F5"/>
                </a:solidFill>
                <a:latin typeface="Segoe UI"/>
              </a:rPr>
              <a:t> and </a:t>
            </a:r>
            <a:r>
              <a:rPr sz="1600" b="1">
                <a:solidFill>
                  <a:srgbClr val="F5F5F5"/>
                </a:solidFill>
                <a:latin typeface="Segoe UI"/>
              </a:rPr>
              <a:t>shake-to-stop</a:t>
            </a:r>
            <a:r>
              <a:rPr sz="1600" b="0">
                <a:solidFill>
                  <a:srgbClr val="F5F5F5"/>
                </a:solidFill>
                <a:latin typeface="Segoe UI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B0B8C0"/>
                </a:solidFill>
                <a:latin typeface="Segoe UI"/>
              </a:rPr>
              <a:t>•  </a:t>
            </a:r>
            <a:r>
              <a:rPr sz="1900" b="1">
                <a:solidFill>
                  <a:srgbClr val="B0B8C0"/>
                </a:solidFill>
                <a:latin typeface="Segoe UI"/>
              </a:rPr>
              <a:t>Tip:</a:t>
            </a:r>
            <a:r>
              <a:rPr sz="1900" b="0">
                <a:solidFill>
                  <a:srgbClr val="B0B8C0"/>
                </a:solidFill>
                <a:latin typeface="Segoe UI"/>
              </a:rPr>
              <a:t> hard-refresh the web page if you tested an older build (Ctrl+Shift+R / pull-to-refresh).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Segoe UI"/>
              </a:rPr>
              <a:t>Before You 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926080" cy="4572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Complete the </a:t>
            </a:r>
            <a:r>
              <a:rPr sz="1900" b="1">
                <a:solidFill>
                  <a:srgbClr val="F5F5F5"/>
                </a:solidFill>
                <a:latin typeface="Segoe UI"/>
              </a:rPr>
              <a:t>permissions screen</a:t>
            </a:r>
            <a:r>
              <a:rPr sz="1900" b="0">
                <a:solidFill>
                  <a:srgbClr val="F5F5F5"/>
                </a:solidFill>
                <a:latin typeface="Segoe UI"/>
              </a:rPr>
              <a:t>: location, camera, and microphone — all three are required.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Use </a:t>
            </a:r>
            <a:r>
              <a:rPr sz="1900" b="1">
                <a:solidFill>
                  <a:srgbClr val="F5F5F5"/>
                </a:solidFill>
                <a:latin typeface="Segoe UI"/>
              </a:rPr>
              <a:t>headphones</a:t>
            </a:r>
            <a:r>
              <a:rPr sz="1900" b="0">
                <a:solidFill>
                  <a:srgbClr val="F5F5F5"/>
                </a:solidFill>
                <a:latin typeface="Segoe UI"/>
              </a:rPr>
              <a:t> or turn volume up so spoken answers are easy to hear.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For the fairest location test, use a </a:t>
            </a:r>
            <a:r>
              <a:rPr sz="1900" b="1">
                <a:solidFill>
                  <a:srgbClr val="F5F5F5"/>
                </a:solidFill>
                <a:latin typeface="Segoe UI"/>
              </a:rPr>
              <a:t>phone browser</a:t>
            </a:r>
            <a:r>
              <a:rPr sz="1900" b="0">
                <a:solidFill>
                  <a:srgbClr val="F5F5F5"/>
                </a:solidFill>
                <a:latin typeface="Segoe UI"/>
              </a:rPr>
              <a:t> (real GPS), not a desktop on campus Wi‑Fi.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B0B8C0"/>
                </a:solidFill>
                <a:latin typeface="Segoe UI"/>
              </a:rPr>
              <a:t>•  If you hear *"Your location looks approximate"*, nearby results may be off — try again on a phone.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Segoe UI"/>
              </a:rPr>
              <a:t>Test 1 — Camera + Voice Q&amp;A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926080" cy="4572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0">
                <a:solidFill>
                  <a:srgbClr val="66BB6A"/>
                </a:solidFill>
                <a:latin typeface="Segoe UI"/>
              </a:rPr>
              <a:t>•  </a:t>
            </a:r>
            <a:r>
              <a:rPr sz="1900" b="1">
                <a:solidFill>
                  <a:srgbClr val="66BB6A"/>
                </a:solidFill>
                <a:latin typeface="Segoe UI"/>
              </a:rPr>
              <a:t>Goal:</a:t>
            </a:r>
            <a:r>
              <a:rPr sz="1900" b="0">
                <a:solidFill>
                  <a:srgbClr val="66BB6A"/>
                </a:solidFill>
                <a:latin typeface="Segoe UI"/>
              </a:rPr>
              <a:t> confirm capture, questions, and spoken answers work end-to-end.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Point the camera at your surroundings.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</a:t>
            </a:r>
            <a:r>
              <a:rPr sz="1600" b="1">
                <a:solidFill>
                  <a:srgbClr val="F5F5F5"/>
                </a:solidFill>
                <a:latin typeface="Segoe UI"/>
              </a:rPr>
              <a:t>Tap quickly</a:t>
            </a:r>
            <a:r>
              <a:rPr sz="1600" b="0">
                <a:solidFill>
                  <a:srgbClr val="F5F5F5"/>
                </a:solidFill>
                <a:latin typeface="Segoe UI"/>
              </a:rPr>
              <a:t> on the camera area → photo captured (you'll hear confirmation).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</a:t>
            </a:r>
            <a:r>
              <a:rPr sz="1600" b="1">
                <a:solidFill>
                  <a:srgbClr val="F5F5F5"/>
                </a:solidFill>
                <a:latin typeface="Segoe UI"/>
              </a:rPr>
              <a:t>Hold</a:t>
            </a:r>
            <a:r>
              <a:rPr sz="1600" b="0">
                <a:solidFill>
                  <a:srgbClr val="F5F5F5"/>
                </a:solidFill>
                <a:latin typeface="Segoe UI"/>
              </a:rPr>
              <a:t> the camera area → video mode (web samples frames; native records video).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Ask a question: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Tap </a:t>
            </a:r>
            <a:r>
              <a:rPr sz="1600" b="1">
                <a:solidFill>
                  <a:srgbClr val="F5F5F5"/>
                </a:solidFill>
                <a:latin typeface="Segoe UI"/>
              </a:rPr>
              <a:t>Tap to Ask</a:t>
            </a:r>
            <a:r>
              <a:rPr sz="1600" b="0">
                <a:solidFill>
                  <a:srgbClr val="F5F5F5"/>
                </a:solidFill>
                <a:latin typeface="Segoe UI"/>
              </a:rPr>
              <a:t> and speak, </a:t>
            </a:r>
            <a:r>
              <a:rPr sz="1600" b="1">
                <a:solidFill>
                  <a:srgbClr val="F5F5F5"/>
                </a:solidFill>
                <a:latin typeface="Segoe UI"/>
              </a:rPr>
              <a:t>or</a:t>
            </a:r>
            <a:r>
              <a:rPr sz="1600" b="0">
                <a:solidFill>
                  <a:srgbClr val="F5F5F5"/>
                </a:solidFill>
                <a:latin typeface="Segoe UI"/>
              </a:rPr>
              <a:t> type in the text field.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Tap </a:t>
            </a:r>
            <a:r>
              <a:rPr sz="1600" b="1">
                <a:solidFill>
                  <a:srgbClr val="F5F5F5"/>
                </a:solidFill>
                <a:latin typeface="Segoe UI"/>
              </a:rPr>
              <a:t>Submit</a:t>
            </a:r>
            <a:r>
              <a:rPr sz="1600" b="0">
                <a:solidFill>
                  <a:srgbClr val="F5F5F5"/>
                </a:solidFill>
                <a:latin typeface="Segoe UI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66BB6A"/>
                </a:solidFill>
                <a:latin typeface="Segoe UI"/>
              </a:rPr>
              <a:t>•  </a:t>
            </a:r>
            <a:r>
              <a:rPr sz="1900" b="1">
                <a:solidFill>
                  <a:srgbClr val="66BB6A"/>
                </a:solidFill>
                <a:latin typeface="Segoe UI"/>
              </a:rPr>
              <a:t>Pass if:</a:t>
            </a:r>
            <a:r>
              <a:rPr sz="1900" b="0">
                <a:solidFill>
                  <a:srgbClr val="66BB6A"/>
                </a:solidFill>
                <a:latin typeface="Segoe UI"/>
              </a:rPr>
              <a:t> the answer is </a:t>
            </a:r>
            <a:r>
              <a:rPr sz="1900" b="1">
                <a:solidFill>
                  <a:srgbClr val="66BB6A"/>
                </a:solidFill>
                <a:latin typeface="Segoe UI"/>
              </a:rPr>
              <a:t>accurate</a:t>
            </a:r>
            <a:r>
              <a:rPr sz="1900" b="0">
                <a:solidFill>
                  <a:srgbClr val="66BB6A"/>
                </a:solidFill>
                <a:latin typeface="Segoe UI"/>
              </a:rPr>
              <a:t>, </a:t>
            </a:r>
            <a:r>
              <a:rPr sz="1900" b="1">
                <a:solidFill>
                  <a:srgbClr val="66BB6A"/>
                </a:solidFill>
                <a:latin typeface="Segoe UI"/>
              </a:rPr>
              <a:t>spoken once</a:t>
            </a:r>
            <a:r>
              <a:rPr sz="1900" b="0">
                <a:solidFill>
                  <a:srgbClr val="66BB6A"/>
                </a:solidFill>
                <a:latin typeface="Segoe UI"/>
              </a:rPr>
              <a:t>, and </a:t>
            </a:r>
            <a:r>
              <a:rPr sz="1900" b="1">
                <a:solidFill>
                  <a:srgbClr val="66BB6A"/>
                </a:solidFill>
                <a:latin typeface="Segoe UI"/>
              </a:rPr>
              <a:t>easy to hear</a:t>
            </a:r>
            <a:r>
              <a:rPr sz="1900" b="0">
                <a:solidFill>
                  <a:srgbClr val="66BB6A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Segoe UI"/>
              </a:rPr>
              <a:t>Test 2 — Hands-Off Navigation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926080" cy="4572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0">
                <a:solidFill>
                  <a:srgbClr val="66BB6A"/>
                </a:solidFill>
                <a:latin typeface="Segoe UI"/>
              </a:rPr>
              <a:t>•  </a:t>
            </a:r>
            <a:r>
              <a:rPr sz="1900" b="1">
                <a:solidFill>
                  <a:srgbClr val="66BB6A"/>
                </a:solidFill>
                <a:latin typeface="Segoe UI"/>
              </a:rPr>
              <a:t>Goal:</a:t>
            </a:r>
            <a:r>
              <a:rPr sz="1900" b="0">
                <a:solidFill>
                  <a:srgbClr val="66BB6A"/>
                </a:solidFill>
                <a:latin typeface="Segoe UI"/>
              </a:rPr>
              <a:t> directions start automatically — no extra buttons.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Ask: *"How do I get to [a nearby place]?"* (e.g. a café, station, or landmark).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</a:t>
            </a:r>
            <a:r>
              <a:rPr sz="1900" b="1">
                <a:solidFill>
                  <a:srgbClr val="F5F5F5"/>
                </a:solidFill>
                <a:latin typeface="Segoe UI"/>
              </a:rPr>
              <a:t>Native (TestFlight / Expo Go):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Navigation </a:t>
            </a:r>
            <a:r>
              <a:rPr sz="1600" b="1">
                <a:solidFill>
                  <a:srgbClr val="F5F5F5"/>
                </a:solidFill>
                <a:latin typeface="Segoe UI"/>
              </a:rPr>
              <a:t>starts automatically</a:t>
            </a:r>
            <a:r>
              <a:rPr sz="1600" b="0">
                <a:solidFill>
                  <a:srgbClr val="F5F5F5"/>
                </a:solidFill>
                <a:latin typeface="Segoe UI"/>
              </a:rPr>
              <a:t> — vibrations + spoken turn-by-turn.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Steps advance </a:t>
            </a:r>
            <a:r>
              <a:rPr sz="1600" b="1">
                <a:solidFill>
                  <a:srgbClr val="F5F5F5"/>
                </a:solidFill>
                <a:latin typeface="Segoe UI"/>
              </a:rPr>
              <a:t>as you walk</a:t>
            </a:r>
            <a:r>
              <a:rPr sz="1600" b="0">
                <a:solidFill>
                  <a:srgbClr val="F5F5F5"/>
                </a:solidFill>
                <a:latin typeface="Segoe UI"/>
              </a:rPr>
              <a:t> (GPS) or on a timer when GPS points are missing.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Near the destination: hear </a:t>
            </a:r>
            <a:r>
              <a:rPr sz="1600" b="1">
                <a:solidFill>
                  <a:srgbClr val="F5F5F5"/>
                </a:solidFill>
                <a:latin typeface="Segoe UI"/>
              </a:rPr>
              <a:t>"You have arrived."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</a:t>
            </a:r>
            <a:r>
              <a:rPr sz="1600" b="1">
                <a:solidFill>
                  <a:srgbClr val="F5F5F5"/>
                </a:solidFill>
                <a:latin typeface="Segoe UI"/>
              </a:rPr>
              <a:t>Shake the phone</a:t>
            </a:r>
            <a:r>
              <a:rPr sz="1600" b="0">
                <a:solidFill>
                  <a:srgbClr val="F5F5F5"/>
                </a:solidFill>
                <a:latin typeface="Segoe UI"/>
              </a:rPr>
              <a:t> to stop → buzz + "Navigation stopped."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B0B8C0"/>
                </a:solidFill>
                <a:latin typeface="Segoe UI"/>
              </a:rPr>
              <a:t>•  </a:t>
            </a:r>
            <a:r>
              <a:rPr sz="1900" b="1">
                <a:solidFill>
                  <a:srgbClr val="B0B8C0"/>
                </a:solidFill>
                <a:latin typeface="Segoe UI"/>
              </a:rPr>
              <a:t>Web:</a:t>
            </a:r>
            <a:r>
              <a:rPr sz="1900" b="0">
                <a:solidFill>
                  <a:srgbClr val="B0B8C0"/>
                </a:solidFill>
                <a:latin typeface="Segoe UI"/>
              </a:rPr>
              <a:t> voice directions work; </a:t>
            </a:r>
            <a:r>
              <a:rPr sz="1900" b="1">
                <a:solidFill>
                  <a:srgbClr val="B0B8C0"/>
                </a:solidFill>
                <a:latin typeface="Segoe UI"/>
              </a:rPr>
              <a:t>haptics and shake-to-stop are native-only.</a:t>
            </a:r>
            <a:r>
              <a:rPr sz="1900" b="0">
                <a:solidFill>
                  <a:srgbClr val="B0B8C0"/>
                </a:solidFill>
                <a:latin typeface="Segoe UI"/>
              </a:rPr>
              <a:t> Use </a:t>
            </a:r>
            <a:r>
              <a:rPr sz="1900" b="1">
                <a:solidFill>
                  <a:srgbClr val="B0B8C0"/>
                </a:solidFill>
                <a:latin typeface="Segoe UI"/>
              </a:rPr>
              <a:t>Stop Navigation</a:t>
            </a:r>
            <a:r>
              <a:rPr sz="1900" b="0">
                <a:solidFill>
                  <a:srgbClr val="B0B8C0"/>
                </a:solidFill>
                <a:latin typeface="Segoe UI"/>
              </a:rPr>
              <a:t> on screen.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Segoe UI"/>
              </a:rPr>
              <a:t>Test 3 — VoiceOver &amp; Accessibility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926080" cy="4572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0">
                <a:solidFill>
                  <a:srgbClr val="66BB6A"/>
                </a:solidFill>
                <a:latin typeface="Segoe UI"/>
              </a:rPr>
              <a:t>•  </a:t>
            </a:r>
            <a:r>
              <a:rPr sz="1900" b="1">
                <a:solidFill>
                  <a:srgbClr val="66BB6A"/>
                </a:solidFill>
                <a:latin typeface="Segoe UI"/>
              </a:rPr>
              <a:t>Goal:</a:t>
            </a:r>
            <a:r>
              <a:rPr sz="1900" b="0">
                <a:solidFill>
                  <a:srgbClr val="66BB6A"/>
                </a:solidFill>
                <a:latin typeface="Segoe UI"/>
              </a:rPr>
              <a:t> the whole flow works with the screen reader on.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Turn on </a:t>
            </a:r>
            <a:r>
              <a:rPr sz="1900" b="1">
                <a:solidFill>
                  <a:srgbClr val="F5F5F5"/>
                </a:solidFill>
                <a:latin typeface="Segoe UI"/>
              </a:rPr>
              <a:t>VoiceOver</a:t>
            </a:r>
            <a:r>
              <a:rPr sz="1900" b="0">
                <a:solidFill>
                  <a:srgbClr val="F5F5F5"/>
                </a:solidFill>
                <a:latin typeface="Segoe UI"/>
              </a:rPr>
              <a:t> (Settings → Accessibility → VoiceOver).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Run Tests 1 and 2 again: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Buttons and status should be </a:t>
            </a:r>
            <a:r>
              <a:rPr sz="1600" b="1">
                <a:solidFill>
                  <a:srgbClr val="F5F5F5"/>
                </a:solidFill>
                <a:latin typeface="Segoe UI"/>
              </a:rPr>
              <a:t>announced</a:t>
            </a:r>
            <a:r>
              <a:rPr sz="1600" b="0">
                <a:solidFill>
                  <a:srgbClr val="F5F5F5"/>
                </a:solidFill>
                <a:latin typeface="Segoe UI"/>
              </a:rPr>
              <a:t> clearly.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Arrival and off-route warnings should use </a:t>
            </a:r>
            <a:r>
              <a:rPr sz="1600" b="1">
                <a:solidFill>
                  <a:srgbClr val="F5F5F5"/>
                </a:solidFill>
                <a:latin typeface="Segoe UI"/>
              </a:rPr>
              <a:t>assertive</a:t>
            </a:r>
            <a:r>
              <a:rPr sz="1600" b="0">
                <a:solidFill>
                  <a:srgbClr val="F5F5F5"/>
                </a:solidFill>
                <a:latin typeface="Segoe UI"/>
              </a:rPr>
              <a:t> announcements.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You should </a:t>
            </a:r>
            <a:r>
              <a:rPr sz="1600" b="1">
                <a:solidFill>
                  <a:srgbClr val="F5F5F5"/>
                </a:solidFill>
                <a:latin typeface="Segoe UI"/>
              </a:rPr>
              <a:t>not</a:t>
            </a:r>
            <a:r>
              <a:rPr sz="1600" b="0">
                <a:solidFill>
                  <a:srgbClr val="F5F5F5"/>
                </a:solidFill>
                <a:latin typeface="Segoe UI"/>
              </a:rPr>
              <a:t> hear the same text twice (app TTS + VoiceOver overlapping).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66BB6A"/>
                </a:solidFill>
                <a:latin typeface="Segoe UI"/>
              </a:rPr>
              <a:t>•  </a:t>
            </a:r>
            <a:r>
              <a:rPr sz="1900" b="1">
                <a:solidFill>
                  <a:srgbClr val="66BB6A"/>
                </a:solidFill>
                <a:latin typeface="Segoe UI"/>
              </a:rPr>
              <a:t>Pass if:</a:t>
            </a:r>
            <a:r>
              <a:rPr sz="1900" b="0">
                <a:solidFill>
                  <a:srgbClr val="66BB6A"/>
                </a:solidFill>
                <a:latin typeface="Segoe UI"/>
              </a:rPr>
              <a:t> you can complete the flow </a:t>
            </a:r>
            <a:r>
              <a:rPr sz="1900" b="1">
                <a:solidFill>
                  <a:srgbClr val="66BB6A"/>
                </a:solidFill>
                <a:latin typeface="Segoe UI"/>
              </a:rPr>
              <a:t>without seeing the 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Segoe UI"/>
              </a:rPr>
              <a:t>Test 4 — Companion Mode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926080" cy="4572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0">
                <a:solidFill>
                  <a:srgbClr val="66BB6A"/>
                </a:solidFill>
                <a:latin typeface="Segoe UI"/>
              </a:rPr>
              <a:t>•  </a:t>
            </a:r>
            <a:r>
              <a:rPr sz="1900" b="1">
                <a:solidFill>
                  <a:srgbClr val="66BB6A"/>
                </a:solidFill>
                <a:latin typeface="Segoe UI"/>
              </a:rPr>
              <a:t>Goal:</a:t>
            </a:r>
            <a:r>
              <a:rPr sz="1900" b="0">
                <a:solidFill>
                  <a:srgbClr val="66BB6A"/>
                </a:solidFill>
                <a:latin typeface="Segoe UI"/>
              </a:rPr>
              <a:t> generate a live location share link for a trusted contact.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From the main screen, open </a:t>
            </a:r>
            <a:r>
              <a:rPr sz="1900" b="1">
                <a:solidFill>
                  <a:srgbClr val="F5F5F5"/>
                </a:solidFill>
                <a:latin typeface="Segoe UI"/>
              </a:rPr>
              <a:t>Companion Mode</a:t>
            </a:r>
            <a:r>
              <a:rPr sz="1900" b="0">
                <a:solidFill>
                  <a:srgbClr val="F5F5F5"/>
                </a:solidFill>
                <a:latin typeface="Segoe UI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</a:t>
            </a:r>
            <a:r>
              <a:rPr sz="1900" b="1">
                <a:solidFill>
                  <a:srgbClr val="F5F5F5"/>
                </a:solidFill>
                <a:latin typeface="Segoe UI"/>
              </a:rPr>
              <a:t>Pass if: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A </a:t>
            </a:r>
            <a:r>
              <a:rPr sz="1600" b="1">
                <a:solidFill>
                  <a:srgbClr val="F5F5F5"/>
                </a:solidFill>
                <a:latin typeface="Segoe UI"/>
              </a:rPr>
              <a:t>share link</a:t>
            </a:r>
            <a:r>
              <a:rPr sz="1600" b="0">
                <a:solidFill>
                  <a:srgbClr val="F5F5F5"/>
                </a:solidFill>
                <a:latin typeface="Segoe UI"/>
              </a:rPr>
              <a:t> is created successfully.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Your contact can open it and see </a:t>
            </a:r>
            <a:r>
              <a:rPr sz="1600" b="1">
                <a:solidFill>
                  <a:srgbClr val="F5F5F5"/>
                </a:solidFill>
                <a:latin typeface="Segoe UI"/>
              </a:rPr>
              <a:t>live location updates</a:t>
            </a:r>
            <a:r>
              <a:rPr sz="1600" b="0">
                <a:solidFill>
                  <a:srgbClr val="F5F5F5"/>
                </a:solidFill>
                <a:latin typeface="Segoe UI"/>
              </a:rPr>
              <a:t> (same Wi‑Fi / network as backend).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B0B8C0"/>
                </a:solidFill>
                <a:latin typeface="Segoe UI"/>
              </a:rPr>
              <a:t>•  Report if the link fails to load or location doesn't update.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Segoe UI"/>
              </a:rPr>
              <a:t>Test 5 — Saved Places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926080" cy="4572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0">
                <a:solidFill>
                  <a:srgbClr val="66BB6A"/>
                </a:solidFill>
                <a:latin typeface="Segoe UI"/>
              </a:rPr>
              <a:t>•  </a:t>
            </a:r>
            <a:r>
              <a:rPr sz="1900" b="1">
                <a:solidFill>
                  <a:srgbClr val="66BB6A"/>
                </a:solidFill>
                <a:latin typeface="Segoe UI"/>
              </a:rPr>
              <a:t>Goal:</a:t>
            </a:r>
            <a:r>
              <a:rPr sz="1900" b="0">
                <a:solidFill>
                  <a:srgbClr val="66BB6A"/>
                </a:solidFill>
                <a:latin typeface="Segoe UI"/>
              </a:rPr>
              <a:t> save addresses and use them in natural-language questions.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Open </a:t>
            </a:r>
            <a:r>
              <a:rPr sz="1900" b="1">
                <a:solidFill>
                  <a:srgbClr val="F5F5F5"/>
                </a:solidFill>
                <a:latin typeface="Segoe UI"/>
              </a:rPr>
              <a:t>Saved Places</a:t>
            </a:r>
            <a:r>
              <a:rPr sz="1900" b="0">
                <a:solidFill>
                  <a:srgbClr val="F5F5F5"/>
                </a:solidFill>
                <a:latin typeface="Segoe UI"/>
              </a:rPr>
              <a:t> and save a location (e.g. alias </a:t>
            </a:r>
            <a:r>
              <a:rPr sz="1900" b="1">
                <a:solidFill>
                  <a:srgbClr val="F5F5F5"/>
                </a:solidFill>
                <a:latin typeface="Segoe UI"/>
              </a:rPr>
              <a:t>home</a:t>
            </a:r>
            <a:r>
              <a:rPr sz="1900" b="0">
                <a:solidFill>
                  <a:srgbClr val="F5F5F5"/>
                </a:solidFill>
                <a:latin typeface="Segoe UI"/>
              </a:rPr>
              <a:t>).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Return to main and ask: *"How do I get home?"*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</a:t>
            </a:r>
            <a:r>
              <a:rPr sz="1900" b="1">
                <a:solidFill>
                  <a:srgbClr val="F5F5F5"/>
                </a:solidFill>
                <a:latin typeface="Segoe UI"/>
              </a:rPr>
              <a:t>Pass if: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The app resolves your saved alias.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You get </a:t>
            </a:r>
            <a:r>
              <a:rPr sz="1600" b="1">
                <a:solidFill>
                  <a:srgbClr val="F5F5F5"/>
                </a:solidFill>
                <a:latin typeface="Segoe UI"/>
              </a:rPr>
              <a:t>directions</a:t>
            </a:r>
            <a:r>
              <a:rPr sz="1600" b="0">
                <a:solidFill>
                  <a:srgbClr val="F5F5F5"/>
                </a:solidFill>
                <a:latin typeface="Segoe UI"/>
              </a:rPr>
              <a:t> (and auto-navigation on native).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Segoe UI"/>
              </a:rPr>
              <a:t>What to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926080" cy="4572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Anything that </a:t>
            </a:r>
            <a:r>
              <a:rPr sz="1900" b="1">
                <a:solidFill>
                  <a:srgbClr val="F5F5F5"/>
                </a:solidFill>
                <a:latin typeface="Segoe UI"/>
              </a:rPr>
              <a:t>doesn't speak or vibrate</a:t>
            </a:r>
            <a:r>
              <a:rPr sz="1900" b="0">
                <a:solidFill>
                  <a:srgbClr val="F5F5F5"/>
                </a:solidFill>
                <a:latin typeface="Segoe UI"/>
              </a:rPr>
              <a:t> when you expect it to.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</a:t>
            </a:r>
            <a:r>
              <a:rPr sz="1900" b="1">
                <a:solidFill>
                  <a:srgbClr val="F5F5F5"/>
                </a:solidFill>
                <a:latin typeface="Segoe UI"/>
              </a:rPr>
              <a:t>Wrong or vague directions</a:t>
            </a:r>
            <a:r>
              <a:rPr sz="1900" b="0">
                <a:solidFill>
                  <a:srgbClr val="F5F5F5"/>
                </a:solidFill>
                <a:latin typeface="Segoe UI"/>
              </a:rPr>
              <a:t> — especially if GPS seemed fine.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</a:t>
            </a:r>
            <a:r>
              <a:rPr sz="1900" b="1">
                <a:solidFill>
                  <a:srgbClr val="F5F5F5"/>
                </a:solidFill>
                <a:latin typeface="Segoe UI"/>
              </a:rPr>
              <a:t>Accidental navigation stops</a:t>
            </a:r>
            <a:r>
              <a:rPr sz="1900" b="0">
                <a:solidFill>
                  <a:srgbClr val="F5F5F5"/>
                </a:solidFill>
                <a:latin typeface="Segoe UI"/>
              </a:rPr>
              <a:t> while walking (native shake sensitivity).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</a:t>
            </a:r>
            <a:r>
              <a:rPr sz="1900" b="1">
                <a:solidFill>
                  <a:srgbClr val="F5F5F5"/>
                </a:solidFill>
                <a:latin typeface="Segoe UI"/>
              </a:rPr>
              <a:t>VoiceOver</a:t>
            </a:r>
            <a:r>
              <a:rPr sz="1900" b="0">
                <a:solidFill>
                  <a:srgbClr val="F5F5F5"/>
                </a:solidFill>
                <a:latin typeface="Segoe UI"/>
              </a:rPr>
              <a:t> issues: missed labels, double speech, unreachable controls.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</a:t>
            </a:r>
            <a:r>
              <a:rPr sz="1900" b="1">
                <a:solidFill>
                  <a:srgbClr val="F5F5F5"/>
                </a:solidFill>
                <a:latin typeface="Segoe UI"/>
              </a:rPr>
              <a:t>Web-only:</a:t>
            </a:r>
            <a:r>
              <a:rPr sz="1900" b="0">
                <a:solidFill>
                  <a:srgbClr val="F5F5F5"/>
                </a:solidFill>
                <a:latin typeface="Segoe UI"/>
              </a:rPr>
              <a:t> white screen, photo errors, bad location on desktop.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B0B8C0"/>
                </a:solidFill>
                <a:latin typeface="Segoe UI"/>
              </a:rPr>
              <a:t>•  Include: device (iPhone model / browser), what you asked, and what happened.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Segoe UI"/>
              </a:rPr>
              <a:t>Quick 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926080" cy="4572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0">
                <a:solidFill>
                  <a:srgbClr val="66BB6A"/>
                </a:solidFill>
                <a:latin typeface="Segoe UI"/>
              </a:rPr>
              <a:t>•  </a:t>
            </a:r>
            <a:r>
              <a:rPr sz="1900" b="1">
                <a:solidFill>
                  <a:srgbClr val="66BB6A"/>
                </a:solidFill>
                <a:latin typeface="Segoe UI"/>
              </a:rPr>
              <a:t>Web beta:</a:t>
            </a:r>
          </a:p>
          <a:p>
            <a:pPr lvl="1">
              <a:spcAft>
                <a:spcPts val="700"/>
              </a:spcAft>
            </a:pPr>
            <a:r>
              <a:rPr sz="1600" b="0">
                <a:solidFill>
                  <a:srgbClr val="F5F5F5"/>
                </a:solidFill>
                <a:latin typeface="Segoe UI"/>
              </a:rPr>
              <a:t>–  https://buddy-walk-mobile.vercel.app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</a:t>
            </a:r>
            <a:r>
              <a:rPr sz="1900" b="1">
                <a:solidFill>
                  <a:srgbClr val="F5F5F5"/>
                </a:solidFill>
                <a:latin typeface="Segoe UI"/>
              </a:rPr>
              <a:t>Camera:</a:t>
            </a:r>
            <a:r>
              <a:rPr sz="1900" b="0">
                <a:solidFill>
                  <a:srgbClr val="F5F5F5"/>
                </a:solidFill>
                <a:latin typeface="Segoe UI"/>
              </a:rPr>
              <a:t> tap = photo, hold = video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</a:t>
            </a:r>
            <a:r>
              <a:rPr sz="1900" b="1">
                <a:solidFill>
                  <a:srgbClr val="F5F5F5"/>
                </a:solidFill>
                <a:latin typeface="Segoe UI"/>
              </a:rPr>
              <a:t>Directions:</a:t>
            </a:r>
            <a:r>
              <a:rPr sz="1900" b="0">
                <a:solidFill>
                  <a:srgbClr val="F5F5F5"/>
                </a:solidFill>
                <a:latin typeface="Segoe UI"/>
              </a:rPr>
              <a:t> ask naturally → navigation auto-starts (native)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</a:t>
            </a:r>
            <a:r>
              <a:rPr sz="1900" b="1">
                <a:solidFill>
                  <a:srgbClr val="F5F5F5"/>
                </a:solidFill>
                <a:latin typeface="Segoe UI"/>
              </a:rPr>
              <a:t>Stop navigation:</a:t>
            </a:r>
            <a:r>
              <a:rPr sz="1900" b="0">
                <a:solidFill>
                  <a:srgbClr val="F5F5F5"/>
                </a:solidFill>
                <a:latin typeface="Segoe UI"/>
              </a:rPr>
              <a:t> shake phone (native) or Stop button (web)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B0B8C0"/>
                </a:solidFill>
                <a:latin typeface="Segoe UI"/>
              </a:rPr>
              <a:t>•  </a:t>
            </a:r>
            <a:r>
              <a:rPr sz="1900" b="1">
                <a:solidFill>
                  <a:srgbClr val="B0B8C0"/>
                </a:solidFill>
                <a:latin typeface="Segoe UI"/>
              </a:rPr>
              <a:t>Feedback:</a:t>
            </a:r>
            <a:r>
              <a:rPr sz="1900" b="0">
                <a:solidFill>
                  <a:srgbClr val="B0B8C0"/>
                </a:solidFill>
                <a:latin typeface="Segoe UI"/>
              </a:rPr>
              <a:t> raymondsekyere99@gmail.com, dylansch7@gmail.com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Segoe U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2926080" cy="45720"/>
          </a:xfrm>
          <a:prstGeom prst="rect">
            <a:avLst/>
          </a:prstGeom>
          <a:solidFill>
            <a:srgbClr val="4DD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0">
                <a:solidFill>
                  <a:srgbClr val="F5F5F5"/>
                </a:solidFill>
                <a:latin typeface="Segoe UI"/>
              </a:rPr>
              <a:t>•  Your feedback directly shapes Buddy Walk for blind and low-vision travelers.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66BB6A"/>
                </a:solidFill>
                <a:latin typeface="Segoe UI"/>
              </a:rPr>
              <a:t>•  Try the beta: </a:t>
            </a:r>
            <a:r>
              <a:rPr sz="1900" b="1">
                <a:solidFill>
                  <a:srgbClr val="66BB6A"/>
                </a:solidFill>
                <a:latin typeface="Segoe UI"/>
              </a:rPr>
              <a:t>https://buddy-walk-mobile.vercel.app</a:t>
            </a:r>
          </a:p>
          <a:p>
            <a:pPr>
              <a:spcAft>
                <a:spcPts val="700"/>
              </a:spcAft>
            </a:pPr>
            <a:r>
              <a:rPr sz="1900" b="0">
                <a:solidFill>
                  <a:srgbClr val="B0B8C0"/>
                </a:solidFill>
                <a:latin typeface="Segoe UI"/>
              </a:rPr>
              <a:t>• 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